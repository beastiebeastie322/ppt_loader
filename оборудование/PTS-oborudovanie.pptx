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08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C0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91153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FF4D8D"/>
                </a:solidFill>
                <a:latin typeface="Arial"/>
              </a:rPr>
              <a:t>ТЕХ ГУАП · направление ПТС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03120"/>
            <a:ext cx="1091153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7EEF5"/>
                </a:solidFill>
                <a:latin typeface="Arial"/>
              </a:rPr>
              <a:t>Оборудование для трансляций Какая задача → какое соединение → какое оборудование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389120"/>
            <a:ext cx="1091153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C4A8BC"/>
                </a:solidFill>
                <a:latin typeface="Arial"/>
              </a:rPr>
              <a:t>Не спецификации наизусть — логика тракта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63807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C4A8BC"/>
                </a:solidFill>
                <a:latin typeface="Arial"/>
              </a:rPr>
              <a:t>ТЕХ ГУАП · ПТС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54335" y="6446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C4A8BC"/>
                </a:solidFill>
                <a:latin typeface="Arial"/>
              </a:rPr>
              <a:t>1 / 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08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C0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1153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7EEF5"/>
                </a:solidFill>
                <a:latin typeface="Arial"/>
              </a:rPr>
              <a:t>Карта мира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1">
                <a:solidFill>
                  <a:srgbClr val="F7EEF5"/>
                </a:solidFill>
                <a:latin typeface="Arial"/>
              </a:rPr>
              <a:t>— Вступление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F7EEF5"/>
                </a:solidFill>
                <a:latin typeface="Arial"/>
              </a:rPr>
              <a:t>— Карта мира эфира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C4A8BC"/>
                </a:solidFill>
                <a:latin typeface="Arial"/>
              </a:rPr>
              <a:t>Трансляция — это путь сигнала от источника к зрителю. Четыре блока, через которые проходит картинка и звук.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F7EEF5"/>
                </a:solidFill>
                <a:latin typeface="Arial"/>
              </a:rPr>
              <a:t>— Источник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F7EEF5"/>
                </a:solidFill>
                <a:latin typeface="Arial"/>
              </a:rPr>
              <a:t>— Камеры, ПК, внешний сигнал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F7EEF5"/>
                </a:solidFill>
                <a:latin typeface="Arial"/>
              </a:rPr>
              <a:t>— Путь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C4A8BC"/>
                </a:solidFill>
                <a:latin typeface="Arial"/>
              </a:rPr>
              <a:t>— Кабели, сеть, преобразователи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F7EEF5"/>
                </a:solidFill>
                <a:latin typeface="Arial"/>
              </a:rPr>
              <a:t>— Обработка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F7EEF5"/>
                </a:solidFill>
                <a:latin typeface="Arial"/>
              </a:rPr>
              <a:t>— Микшер, скейлер, матрица, ПК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F7EEF5"/>
                </a:solidFill>
                <a:latin typeface="Arial"/>
              </a:rPr>
              <a:t>— Вывод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F7EEF5"/>
                </a:solidFill>
                <a:latin typeface="Arial"/>
              </a:rPr>
              <a:t>— Стрим, запись, экраны зала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C4A8BC"/>
                </a:solidFill>
                <a:latin typeface="Arial"/>
              </a:rPr>
              <a:t>Мысль занятия: сначала задача, потом тип соединения, потом железо — а не наоборот.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763807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C4A8BC"/>
                </a:solidFill>
                <a:latin typeface="Arial"/>
              </a:rPr>
              <a:t>ТЕХ ГУАП · ПТС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6446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C4A8BC"/>
                </a:solidFill>
                <a:latin typeface="Arial"/>
              </a:rPr>
              <a:t>2 / 28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08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C0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1153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7EEF5"/>
                </a:solidFill>
                <a:latin typeface="Arial"/>
              </a:rPr>
              <a:t>Камеры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1">
                <a:solidFill>
                  <a:srgbClr val="F7EEF5"/>
                </a:solidFill>
                <a:latin typeface="Arial"/>
              </a:rPr>
              <a:t>— Источник · 01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C4A8BC"/>
                </a:solidFill>
                <a:latin typeface="Arial"/>
              </a:rPr>
              <a:t>Источник сигнала — устройство, которое впервые формирует видео. Камера отдаёт кадр и параметры формата в кабель или сеть.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C4A8BC"/>
                </a:solidFill>
                <a:latin typeface="Arial"/>
              </a:rPr>
              <a:t>— Выход: SDI (BNC), HDMI, иногда NDI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C4A8BC"/>
                </a:solidFill>
                <a:latin typeface="Arial"/>
              </a:rPr>
              <a:t>Параметры: разрешение, частота кадров, progressive / interlace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C4A8BC"/>
                </a:solidFill>
                <a:latin typeface="Arial"/>
              </a:rPr>
              <a:t>В первую очередь проверяем здесь: формат, выход и другие параметры источника.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C4A8BC"/>
                </a:solidFill>
                <a:latin typeface="Arial"/>
              </a:rPr>
              <a:t>— Wikimedia Commons · Blackmagic URSA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763807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C4A8BC"/>
                </a:solidFill>
                <a:latin typeface="Arial"/>
              </a:rPr>
              <a:t>ТЕХ ГУАП · ПТС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6446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C4A8BC"/>
                </a:solidFill>
                <a:latin typeface="Arial"/>
              </a:rPr>
              <a:t>3 / 28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08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C0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1153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7EEF5"/>
                </a:solidFill>
                <a:latin typeface="Arial"/>
              </a:rPr>
              <a:t>ПК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1">
                <a:solidFill>
                  <a:srgbClr val="F7EEF5"/>
                </a:solidFill>
                <a:latin typeface="Arial"/>
              </a:rPr>
              <a:t>— Источник · 02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F7EEF5"/>
                </a:solidFill>
                <a:latin typeface="Arial"/>
              </a:rPr>
              <a:t>— ПК и ноутбуки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C4A8BC"/>
                </a:solidFill>
                <a:latin typeface="Arial"/>
              </a:rPr>
              <a:t>Компьютер — источник компьютерной графики : презентации, браузер, окна приложений, графика микшера.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C4A8BC"/>
                </a:solidFill>
                <a:latin typeface="Arial"/>
              </a:rPr>
              <a:t>— Выход: HDMI / DisplayPort / USB-C → адаптер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C4A8BC"/>
                </a:solidFill>
                <a:latin typeface="Arial"/>
              </a:rPr>
              <a:t>Сетевые протоколы: NDI, SRT, RTMP и другие пути «по IP»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C4A8BC"/>
                </a:solidFill>
                <a:latin typeface="Arial"/>
              </a:rPr>
              <a:t>EDID — данные о возможностях дисплея; без них ПК может отдать неверный режим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C4A8BC"/>
                </a:solidFill>
                <a:latin typeface="Arial"/>
              </a:rPr>
              <a:t>Важно: HDMI на ноутбуке/ПК — всегда только выход, не вход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C4A8BC"/>
                </a:solidFill>
                <a:latin typeface="Arial"/>
              </a:rPr>
              <a:t>— презентация браузер сетевые протоколы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F7EEF5"/>
                </a:solidFill>
                <a:latin typeface="Arial"/>
              </a:rPr>
              <a:t>— Wikimedia Commons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763807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C4A8BC"/>
                </a:solidFill>
                <a:latin typeface="Arial"/>
              </a:rPr>
              <a:t>ТЕХ ГУАП · ПТС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6446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C4A8BC"/>
                </a:solidFill>
                <a:latin typeface="Arial"/>
              </a:rPr>
              <a:t>4 / 28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08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C0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1153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7EEF5"/>
                </a:solidFill>
                <a:latin typeface="Arial"/>
              </a:rPr>
              <a:t>Внешний сигнал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1">
                <a:solidFill>
                  <a:srgbClr val="F7EEF5"/>
                </a:solidFill>
                <a:latin typeface="Arial"/>
              </a:rPr>
              <a:t>— Источник · 03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F7EEF5"/>
                </a:solidFill>
                <a:latin typeface="Arial"/>
              </a:rPr>
              <a:t>— Другие устройства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C4A8BC"/>
                </a:solidFill>
                <a:latin typeface="Arial"/>
              </a:rPr>
              <a:t>Внешний сигнал — уже собранная программа с другого микшера, плеера, медиасервера, телемоста.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C4A8BC"/>
                </a:solidFill>
                <a:latin typeface="Arial"/>
              </a:rPr>
              <a:t>PGM с другого пульта — готовая программа в наш тракт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C4A8BC"/>
                </a:solidFill>
                <a:latin typeface="Arial"/>
              </a:rPr>
              <a:t>— Плеер / медиасервер — ролики, заставки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C4A8BC"/>
                </a:solidFill>
                <a:latin typeface="Arial"/>
              </a:rPr>
              <a:t>ВКС / телемост — удалённый участник как отдельный вход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C4A8BC"/>
                </a:solidFill>
                <a:latin typeface="Arial"/>
              </a:rPr>
              <a:t>Запомните: внешний сигнал тоже источник. У него есть формат и интерфейс — согласуйте их так же, как у камеры.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C4A8BC"/>
                </a:solidFill>
                <a:latin typeface="Arial"/>
              </a:rPr>
              <a:t>— Wikimedia Commons · Blackmagic ATEM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763807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C4A8BC"/>
                </a:solidFill>
                <a:latin typeface="Arial"/>
              </a:rPr>
              <a:t>ТЕХ ГУАП · ПТС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6446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C4A8BC"/>
                </a:solidFill>
                <a:latin typeface="Arial"/>
              </a:rPr>
              <a:t>5 / 28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08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C0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1153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7EEF5"/>
                </a:solidFill>
                <a:latin typeface="Arial"/>
              </a:rPr>
              <a:t>Тракт сигнала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1">
                <a:solidFill>
                  <a:srgbClr val="F7EEF5"/>
                </a:solidFill>
                <a:latin typeface="Arial"/>
              </a:rPr>
              <a:t>— Путь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C4A8BC"/>
                </a:solidFill>
                <a:latin typeface="Arial"/>
              </a:rPr>
              <a:t>Между источником и обработкой сигнал проходит по кабелю, по сети или через преобразователи — из‑за разных разъёмов, длин линий и форматов.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C4A8BC"/>
                </a:solidFill>
                <a:latin typeface="Arial"/>
              </a:rPr>
              <a:t>— Кабель — HDMI, SDI, XLR, Ethernet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C4A8BC"/>
                </a:solidFill>
                <a:latin typeface="Arial"/>
              </a:rPr>
              <a:t>— Сеть — NDI, SRT, RTMP (передача по IP)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C4A8BC"/>
                </a:solidFill>
                <a:latin typeface="Arial"/>
              </a:rPr>
              <a:t>Устройства на пути — конвертер, сплиттер, матрица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C4A8BC"/>
                </a:solidFill>
                <a:latin typeface="Arial"/>
              </a:rPr>
              <a:t>Тракт — упорядоченная последовательность звеньев, по которой сигнал проходит от источника к конечному приёмнику.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F7EEF5"/>
                </a:solidFill>
                <a:latin typeface="Arial"/>
              </a:rPr>
              <a:t>— Wikimedia Commons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763807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C4A8BC"/>
                </a:solidFill>
                <a:latin typeface="Arial"/>
              </a:rPr>
              <a:t>ТЕХ ГУАП · ПТС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6446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C4A8BC"/>
                </a:solidFill>
                <a:latin typeface="Arial"/>
              </a:rPr>
              <a:t>6 / 28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08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C0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1153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7EEF5"/>
                </a:solidFill>
                <a:latin typeface="Arial"/>
              </a:rPr>
              <a:t>Кабели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1">
                <a:solidFill>
                  <a:srgbClr val="F7EEF5"/>
                </a:solidFill>
                <a:latin typeface="Arial"/>
              </a:rPr>
              <a:t>— Путь · кабели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F7EEF5"/>
                </a:solidFill>
                <a:latin typeface="Arial"/>
              </a:rPr>
              <a:t>— Кабели и интерфейсы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C4A8BC"/>
                </a:solidFill>
                <a:latin typeface="Arial"/>
              </a:rPr>
              <a:t>Кабель — не «просто провод», а стандарт: разъём + электрический/цифровой протокол + ограничения по длине.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F7EEF5"/>
                </a:solidFill>
                <a:latin typeface="Arial"/>
              </a:rPr>
              <a:t>— HDMI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F7EEF5"/>
                </a:solidFill>
                <a:latin typeface="Arial"/>
              </a:rPr>
              <a:t>— HDMI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C4A8BC"/>
                </a:solidFill>
                <a:latin typeface="Arial"/>
              </a:rPr>
              <a:t>Бытовой/компьютерный видео+звук. Короткие линии, чувствителен к качеству кабеля.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F7EEF5"/>
                </a:solidFill>
                <a:latin typeface="Arial"/>
              </a:rPr>
              <a:t>— SDI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F7EEF5"/>
                </a:solidFill>
                <a:latin typeface="Arial"/>
              </a:rPr>
              <a:t>— SDI (BNC)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C4A8BC"/>
                </a:solidFill>
                <a:latin typeface="Arial"/>
              </a:rPr>
              <a:t>Профессиональное видео. Level A / Level B — разные упаковки 3G-SDI. Длиннее HDMI, надёжнее на площадке.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F7EEF5"/>
                </a:solidFill>
                <a:latin typeface="Arial"/>
              </a:rPr>
              <a:t>— XLR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F7EEF5"/>
                </a:solidFill>
                <a:latin typeface="Arial"/>
              </a:rPr>
              <a:t>— XLR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C4A8BC"/>
                </a:solidFill>
                <a:latin typeface="Arial"/>
              </a:rPr>
              <a:t>Балансный звуковой интерфейс для микрофонов и линейных сигналов.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F7EEF5"/>
                </a:solidFill>
                <a:latin typeface="Arial"/>
              </a:rPr>
              <a:t>— ETH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F7EEF5"/>
                </a:solidFill>
                <a:latin typeface="Arial"/>
              </a:rPr>
              <a:t>— Ethernet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C4A8BC"/>
                </a:solidFill>
                <a:latin typeface="Arial"/>
              </a:rPr>
              <a:t>Сеть, управление, стрим и другие средства передачи по IP.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763807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C4A8BC"/>
                </a:solidFill>
                <a:latin typeface="Arial"/>
              </a:rPr>
              <a:t>ТЕХ ГУАП · ПТС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6446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C4A8BC"/>
                </a:solidFill>
                <a:latin typeface="Arial"/>
              </a:rPr>
              <a:t>7 / 28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08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C0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1153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7EEF5"/>
                </a:solidFill>
                <a:latin typeface="Arial"/>
              </a:rPr>
              <a:t>Преобразователи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1">
                <a:solidFill>
                  <a:srgbClr val="F7EEF5"/>
                </a:solidFill>
                <a:latin typeface="Arial"/>
              </a:rPr>
              <a:t>— Путь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F7EEF5"/>
                </a:solidFill>
                <a:latin typeface="Arial"/>
              </a:rPr>
              <a:t>— Преобразователи сигнала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C4A8BC"/>
                </a:solidFill>
                <a:latin typeface="Arial"/>
              </a:rPr>
              <a:t>На пути сигнала часто устанавливают устройства этой группы. «Преобразование» здесь — общее обозначение: речь не только о смене типа интерфейса, но и о разветвлении, согласовании разъёмов и соединении линий.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F7EEF5"/>
                </a:solidFill>
                <a:latin typeface="Arial"/>
              </a:rPr>
              <a:t>— 01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F7EEF5"/>
                </a:solidFill>
                <a:latin typeface="Arial"/>
              </a:rPr>
              <a:t>— Конверторы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C4A8BC"/>
                </a:solidFill>
                <a:latin typeface="Arial"/>
              </a:rPr>
              <a:t>— Меняют стандарт сигнала (HDMI↔SDI)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F7EEF5"/>
                </a:solidFill>
                <a:latin typeface="Arial"/>
              </a:rPr>
              <a:t>— 02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F7EEF5"/>
                </a:solidFill>
                <a:latin typeface="Arial"/>
              </a:rPr>
              <a:t>— Адаптеры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C4A8BC"/>
                </a:solidFill>
                <a:latin typeface="Arial"/>
              </a:rPr>
              <a:t>— Меняют только разъём / форм-фактор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F7EEF5"/>
                </a:solidFill>
                <a:latin typeface="Arial"/>
              </a:rPr>
              <a:t>— 03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F7EEF5"/>
                </a:solidFill>
                <a:latin typeface="Arial"/>
              </a:rPr>
              <a:t>— Сплиттеры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C4A8BC"/>
                </a:solidFill>
                <a:latin typeface="Arial"/>
              </a:rPr>
              <a:t>— Раздают один сигнал на N выходов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F7EEF5"/>
                </a:solidFill>
                <a:latin typeface="Arial"/>
              </a:rPr>
              <a:t>— 04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F7EEF5"/>
                </a:solidFill>
                <a:latin typeface="Arial"/>
              </a:rPr>
              <a:t>— Соединители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C4A8BC"/>
                </a:solidFill>
                <a:latin typeface="Arial"/>
              </a:rPr>
              <a:t>— «Бочонки», удлинители, пассивные разветвители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C4A8BC"/>
                </a:solidFill>
                <a:latin typeface="Arial"/>
              </a:rPr>
              <a:t>— Wikimedia Commons · Blackmagic Mini Converters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763807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C4A8BC"/>
                </a:solidFill>
                <a:latin typeface="Arial"/>
              </a:rPr>
              <a:t>ТЕХ ГУАП · ПТС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6446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C4A8BC"/>
                </a:solidFill>
                <a:latin typeface="Arial"/>
              </a:rPr>
              <a:t>8 / 28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08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C0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1153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7EEF5"/>
                </a:solidFill>
                <a:latin typeface="Arial"/>
              </a:rPr>
              <a:t>Конверторы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1">
                <a:solidFill>
                  <a:srgbClr val="F7EEF5"/>
                </a:solidFill>
                <a:latin typeface="Arial"/>
              </a:rPr>
              <a:t>— Конвертер ≠ адаптер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C4A8BC"/>
                </a:solidFill>
                <a:latin typeface="Arial"/>
              </a:rPr>
              <a:t>Конвертер переводит один стандарт сигнала в другой: перепаковывает данные, как правило с питанием и специализированным чипом.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C4A8BC"/>
                </a:solidFill>
                <a:latin typeface="Arial"/>
              </a:rPr>
              <a:t>Пример: HDMI и SDI — разные стандарты → нужен именно конвертер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C4A8BC"/>
                </a:solidFill>
                <a:latin typeface="Arial"/>
              </a:rPr>
              <a:t>Может выполнять up/down/cross conversion (разрешение, частота кадров)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C4A8BC"/>
                </a:solidFill>
                <a:latin typeface="Arial"/>
              </a:rPr>
              <a:t>Часто умеет встраивать и извлекать звук (embed / de-embed)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C4A8BC"/>
                </a:solidFill>
                <a:latin typeface="Arial"/>
              </a:rPr>
              <a:t>Правило: если разъёмы разные и протоколы разные — это конвертер, а не простой переходник.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F7EEF5"/>
                </a:solidFill>
                <a:latin typeface="Arial"/>
              </a:rPr>
              <a:t>— Wikimedia Commons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763807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C4A8BC"/>
                </a:solidFill>
                <a:latin typeface="Arial"/>
              </a:rPr>
              <a:t>ТЕХ ГУАП · ПТС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6446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C4A8BC"/>
                </a:solidFill>
                <a:latin typeface="Arial"/>
              </a:rPr>
              <a:t>9 / 28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08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C0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1153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7EEF5"/>
                </a:solidFill>
                <a:latin typeface="Arial"/>
              </a:rPr>
              <a:t>Адаптеры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1">
                <a:solidFill>
                  <a:srgbClr val="F7EEF5"/>
                </a:solidFill>
                <a:latin typeface="Arial"/>
              </a:rPr>
              <a:t>— Только разъём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C4A8BC"/>
                </a:solidFill>
                <a:latin typeface="Arial"/>
              </a:rPr>
              <a:t>Адаптер изменяет форм-фактор разъёма, не перекодируя сигнал. Типичный пример — HDMI ↔ DVI.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F7EEF5"/>
                </a:solidFill>
                <a:latin typeface="Arial"/>
              </a:rPr>
              <a:t>— Не превращает HDMI в SDI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C4A8BC"/>
                </a:solidFill>
                <a:latin typeface="Arial"/>
              </a:rPr>
              <a:t>— Не устраняет несовместимость форматов кадра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C4A8BC"/>
                </a:solidFill>
                <a:latin typeface="Arial"/>
              </a:rPr>
              <a:t>Активный USB-C‑хаб не следует путать с пассивным переходником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C4A8BC"/>
                </a:solidFill>
                <a:latin typeface="Arial"/>
              </a:rPr>
              <a:t>Ошибка новичка: ожидать от адаптера работу конвертера стандартов.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763807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C4A8BC"/>
                </a:solidFill>
                <a:latin typeface="Arial"/>
              </a:rPr>
              <a:t>ТЕХ ГУАП · ПТС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6446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C4A8BC"/>
                </a:solidFill>
                <a:latin typeface="Arial"/>
              </a:rPr>
              <a:t>10 / 28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08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C0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1153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7EEF5"/>
                </a:solidFill>
                <a:latin typeface="Arial"/>
              </a:rPr>
              <a:t>Сплиттеры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1">
                <a:solidFill>
                  <a:srgbClr val="F7EEF5"/>
                </a:solidFill>
                <a:latin typeface="Arial"/>
              </a:rPr>
              <a:t>— 1 → N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C4A8BC"/>
                </a:solidFill>
                <a:latin typeface="Arial"/>
              </a:rPr>
              <a:t>Сплиттер (distribution amplifier) формирует несколько копий одного входного сигнала для параллельных потребителей: микшер, рекордер, превью.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C4A8BC"/>
                </a:solidFill>
                <a:latin typeface="Arial"/>
              </a:rPr>
              <a:t>Активный сплиттер — с питанием и стабилизацией сигнала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C4A8BC"/>
                </a:solidFill>
                <a:latin typeface="Arial"/>
              </a:rPr>
              <a:t>Пассивный разветвитель повышает риск потери уровня и срыва приёма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763807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C4A8BC"/>
                </a:solidFill>
                <a:latin typeface="Arial"/>
              </a:rPr>
              <a:t>ТЕХ ГУАП · ПТС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6446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C4A8BC"/>
                </a:solidFill>
                <a:latin typeface="Arial"/>
              </a:rPr>
              <a:t>11 / 28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08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C0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1153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7EEF5"/>
                </a:solidFill>
                <a:latin typeface="Arial"/>
              </a:rPr>
              <a:t>Соединители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1">
                <a:solidFill>
                  <a:srgbClr val="F7EEF5"/>
                </a:solidFill>
                <a:latin typeface="Arial"/>
              </a:rPr>
              <a:t>— Бочонки и удлинение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C4A8BC"/>
                </a:solidFill>
                <a:latin typeface="Arial"/>
              </a:rPr>
              <a:t>Соединитель («бочонок») — элемент механического стыкования двух однотипных кабелей (например, BNC–BNC) для удлинения линии или смены пола разъёма.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C4A8BC"/>
                </a:solidFill>
                <a:latin typeface="Arial"/>
              </a:rPr>
              <a:t>Позволяет нарастить линию без замены всего кабеля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C4A8BC"/>
                </a:solidFill>
                <a:latin typeface="Arial"/>
              </a:rPr>
              <a:t>Каждое дополнительное соединение увеличивает число потенциальных точек отказа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C4A8BC"/>
                </a:solidFill>
                <a:latin typeface="Arial"/>
              </a:rPr>
              <a:t>Пассивные разветвители делят энергию сигнала между несколькими выходами и поэтому менее предпочтительны в эфирном тракте, чем активные устройства распределения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763807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C4A8BC"/>
                </a:solidFill>
                <a:latin typeface="Arial"/>
              </a:rPr>
              <a:t>ТЕХ ГУАП · ПТС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6446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C4A8BC"/>
                </a:solidFill>
                <a:latin typeface="Arial"/>
              </a:rPr>
              <a:t>12 / 28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08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C0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1153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7EEF5"/>
                </a:solidFill>
                <a:latin typeface="Arial"/>
              </a:rPr>
              <a:t>Схема HDMI→SDI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1">
                <a:solidFill>
                  <a:srgbClr val="F7EEF5"/>
                </a:solidFill>
                <a:latin typeface="Arial"/>
              </a:rPr>
              <a:t>— Связка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F7EEF5"/>
                </a:solidFill>
                <a:latin typeface="Arial"/>
              </a:rPr>
              <a:t>— Камера HDMI → SDI-сплиттер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C4A8BC"/>
                </a:solidFill>
                <a:latin typeface="Arial"/>
              </a:rPr>
              <a:t>Типовая задача: камера отдаёт HDMI, а тракт площадки построен на SDI. Требуется конвертер, затем раздача.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F7EEF5"/>
                </a:solidFill>
                <a:latin typeface="Arial"/>
              </a:rPr>
              <a:t>— Источник Камера HDMI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F7EEF5"/>
                </a:solidFill>
                <a:latin typeface="Arial"/>
              </a:rPr>
              <a:t>— Конвертер HDMI → SDI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F7EEF5"/>
                </a:solidFill>
                <a:latin typeface="Arial"/>
              </a:rPr>
              <a:t>— Сплиттер SDI 1→N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C4A8BC"/>
                </a:solidFill>
                <a:latin typeface="Arial"/>
              </a:rPr>
              <a:t>— Потребители микшер / запись / превью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F7EEF5"/>
                </a:solidFill>
                <a:latin typeface="Arial"/>
              </a:rPr>
              <a:t>— Почему так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C4A8BC"/>
                </a:solidFill>
                <a:latin typeface="Arial"/>
              </a:rPr>
              <a:t>Длинные HDMI-линии на площадке менее стабильны. SDI обеспечивает большую дальность и удобные разъёмы BNC.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F7EEF5"/>
                </a:solidFill>
                <a:latin typeface="Arial"/>
              </a:rPr>
              <a:t>— Где ошибаются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C4A8BC"/>
                </a:solidFill>
                <a:latin typeface="Arial"/>
              </a:rPr>
              <a:t>Ставят адаптер вместо конвертера; забывают питание конвертера; путают параметры сигнала.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763807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C4A8BC"/>
                </a:solidFill>
                <a:latin typeface="Arial"/>
              </a:rPr>
              <a:t>ТЕХ ГУАП · ПТС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6446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C4A8BC"/>
                </a:solidFill>
                <a:latin typeface="Arial"/>
              </a:rPr>
              <a:t>13 / 28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08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C0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1153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7EEF5"/>
                </a:solidFill>
                <a:latin typeface="Arial"/>
              </a:rPr>
              <a:t>Обработка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1">
                <a:solidFill>
                  <a:srgbClr val="F7EEF5"/>
                </a:solidFill>
                <a:latin typeface="Arial"/>
              </a:rPr>
              <a:t>— Микшеры, скейлеры, матрицы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C4A8BC"/>
                </a:solidFill>
                <a:latin typeface="Arial"/>
              </a:rPr>
              <a:t>На этом этапе из входных сигналов формируют программу: переключают, масштабируют и маршрутизируют.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F7EEF5"/>
                </a:solidFill>
                <a:latin typeface="Arial"/>
              </a:rPr>
              <a:t>— 01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F7EEF5"/>
                </a:solidFill>
                <a:latin typeface="Arial"/>
              </a:rPr>
              <a:t>— Микшер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C4A8BC"/>
                </a:solidFill>
                <a:latin typeface="Arial"/>
              </a:rPr>
              <a:t>— Определяет, что сейчас в программе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F7EEF5"/>
                </a:solidFill>
                <a:latin typeface="Arial"/>
              </a:rPr>
              <a:t>— 02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F7EEF5"/>
                </a:solidFill>
                <a:latin typeface="Arial"/>
              </a:rPr>
              <a:t>— Скейлер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C4A8BC"/>
                </a:solidFill>
                <a:latin typeface="Arial"/>
              </a:rPr>
              <a:t>— Согласует формат кадра с целевым экраном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F7EEF5"/>
                </a:solidFill>
                <a:latin typeface="Arial"/>
              </a:rPr>
              <a:t>— 03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F7EEF5"/>
                </a:solidFill>
                <a:latin typeface="Arial"/>
              </a:rPr>
              <a:t>— Матрица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C4A8BC"/>
                </a:solidFill>
                <a:latin typeface="Arial"/>
              </a:rPr>
              <a:t>— Назначает маршруты «любой вход → любой выход»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C4A8BC"/>
                </a:solidFill>
                <a:latin typeface="Arial"/>
              </a:rPr>
              <a:t>— Wikimedia Commons · ATEM panel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763807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C4A8BC"/>
                </a:solidFill>
                <a:latin typeface="Arial"/>
              </a:rPr>
              <a:t>ТЕХ ГУАП · ПТС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6446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C4A8BC"/>
                </a:solidFill>
                <a:latin typeface="Arial"/>
              </a:rPr>
              <a:t>14 / 28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08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C0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1153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7EEF5"/>
                </a:solidFill>
                <a:latin typeface="Arial"/>
              </a:rPr>
              <a:t>Микшеры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1">
                <a:solidFill>
                  <a:srgbClr val="F7EEF5"/>
                </a:solidFill>
                <a:latin typeface="Arial"/>
              </a:rPr>
              <a:t>— Roland V-60HD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C4A8BC"/>
                </a:solidFill>
                <a:latin typeface="Arial"/>
              </a:rPr>
              <a:t>Видеомикшер (switcher) — устройство или программа, которое в реальном времени выбирает PGM и PVW, выполняет переходы, PinP и ключи.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C4A8BC"/>
                </a:solidFill>
                <a:latin typeface="Arial"/>
              </a:rPr>
              <a:t>— 4× SDI + 2× HDMI (со скейлом на HDMI)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C4A8BC"/>
                </a:solidFill>
                <a:latin typeface="Arial"/>
              </a:rPr>
              <a:t>— Выходы PGM / AUX / Multi-View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C4A8BC"/>
                </a:solidFill>
                <a:latin typeface="Arial"/>
              </a:rPr>
              <a:t>— Встроенный аудимикшер, XLR, автомикс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F7EEF5"/>
                </a:solidFill>
                <a:latin typeface="Arial"/>
              </a:rPr>
              <a:t>— PGM PVW AUX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F7EEF5"/>
                </a:solidFill>
                <a:latin typeface="Arial"/>
              </a:rPr>
              <a:t>— Roland Pro A/V · V-60HD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763807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C4A8BC"/>
                </a:solidFill>
                <a:latin typeface="Arial"/>
              </a:rPr>
              <a:t>ТЕХ ГУАП · ПТС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6446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C4A8BC"/>
                </a:solidFill>
                <a:latin typeface="Arial"/>
              </a:rPr>
              <a:t>15 / 28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08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C0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1153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7EEF5"/>
                </a:solidFill>
                <a:latin typeface="Arial"/>
              </a:rPr>
              <a:t>Скейлеры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1">
                <a:solidFill>
                  <a:srgbClr val="F7EEF5"/>
                </a:solidFill>
                <a:latin typeface="Arial"/>
              </a:rPr>
              <a:t>— Согласование формата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C4A8BC"/>
                </a:solidFill>
                <a:latin typeface="Arial"/>
              </a:rPr>
              <a:t>Скейлер приводит входной кадр к требуемому формату отображения: разрешению, соотношению сторон и ориентации — без искажения пропорций.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F7EEF5"/>
                </a:solidFill>
                <a:latin typeface="Arial"/>
              </a:rPr>
              <a:t>— Кейс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F7EEF5"/>
                </a:solidFill>
                <a:latin typeface="Arial"/>
              </a:rPr>
              <a:t>— Вход: Full HD 1920×1080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C4A8BC"/>
                </a:solidFill>
                <a:latin typeface="Arial"/>
              </a:rPr>
              <a:t>— Экран: 768×1280 (вертикальный)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C4A8BC"/>
                </a:solidFill>
                <a:latin typeface="Arial"/>
              </a:rPr>
              <a:t>Решение: масштабирование и подгонка (fit / crop)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C4A8BC"/>
                </a:solidFill>
                <a:latin typeface="Arial"/>
              </a:rPr>
              <a:t>Ошибка: принудительное растягивание — нарушение пропорций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F7EEF5"/>
                </a:solidFill>
                <a:latin typeface="Arial"/>
              </a:rPr>
              <a:t>— Roland · VC-100UHD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763807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C4A8BC"/>
                </a:solidFill>
                <a:latin typeface="Arial"/>
              </a:rPr>
              <a:t>ТЕХ ГУАП · ПТС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6446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C4A8BC"/>
                </a:solidFill>
                <a:latin typeface="Arial"/>
              </a:rPr>
              <a:t>16 / 28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08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C0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1153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7EEF5"/>
                </a:solidFill>
                <a:latin typeface="Arial"/>
              </a:rPr>
              <a:t>Матрицы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1">
                <a:solidFill>
                  <a:srgbClr val="F7EEF5"/>
                </a:solidFill>
                <a:latin typeface="Arial"/>
              </a:rPr>
              <a:t>— Матрицы / видеохабы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F7EEF5"/>
                </a:solidFill>
                <a:latin typeface="Arial"/>
              </a:rPr>
              <a:t>— Несколько × несколько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C4A8BC"/>
                </a:solidFill>
                <a:latin typeface="Arial"/>
              </a:rPr>
              <a:t>Матрица (router / Videohub) — коммутатор M входов на N выходов с независимым назначением маршрутов.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C4A8BC"/>
                </a:solidFill>
                <a:latin typeface="Arial"/>
              </a:rPr>
              <a:t>Сплиттер: один вход → одинаковые копии на все выходы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C4A8BC"/>
                </a:solidFill>
                <a:latin typeface="Arial"/>
              </a:rPr>
              <a:t>— Матрица: входы и выходы назначаются независимо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C4A8BC"/>
                </a:solidFill>
                <a:latin typeface="Arial"/>
              </a:rPr>
              <a:t>Пресеты снижают необходимость перекоммутации в эфире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C4A8BC"/>
                </a:solidFill>
                <a:latin typeface="Arial"/>
              </a:rPr>
              <a:t>— Спереди — управление; сзади — разъёмы SDI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763807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C4A8BC"/>
                </a:solidFill>
                <a:latin typeface="Arial"/>
              </a:rPr>
              <a:t>ТЕХ ГУАП · ПТС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6446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C4A8BC"/>
                </a:solidFill>
                <a:latin typeface="Arial"/>
              </a:rPr>
              <a:t>17 / 28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08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C0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1153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7EEF5"/>
                </a:solidFill>
                <a:latin typeface="Arial"/>
              </a:rPr>
              <a:t>Карты захвата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1">
                <a:solidFill>
                  <a:srgbClr val="F7EEF5"/>
                </a:solidFill>
                <a:latin typeface="Arial"/>
              </a:rPr>
              <a:t>— Карты ввода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F7EEF5"/>
                </a:solidFill>
                <a:latin typeface="Arial"/>
              </a:rPr>
              <a:t>— USB и PCIe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C4A8BC"/>
                </a:solidFill>
                <a:latin typeface="Arial"/>
              </a:rPr>
              <a:t>Карта захвата (capture) принимает SDI/HDMI и передаёт кадры в компьютер / микшерное ПО.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F7EEF5"/>
                </a:solidFill>
                <a:latin typeface="Arial"/>
              </a:rPr>
              <a:t>— USB capture — внешний бокс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F7EEF5"/>
                </a:solidFill>
                <a:latin typeface="Arial"/>
              </a:rPr>
              <a:t>— USB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F7EEF5"/>
                </a:solidFill>
                <a:latin typeface="Arial"/>
              </a:rPr>
              <a:t>— Внешняя карта / бокс USB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C4A8BC"/>
                </a:solidFill>
                <a:latin typeface="Arial"/>
              </a:rPr>
              <a:t>Подключается к порту USB. Удобна для ноутбука. Полоса делится с другими устройствами; стабильность зависит от чипа и драйвера.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C4A8BC"/>
                </a:solidFill>
                <a:latin typeface="Arial"/>
              </a:rPr>
              <a:t>— PCIe capture — плата внутрь ПК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F7EEF5"/>
                </a:solidFill>
                <a:latin typeface="Arial"/>
              </a:rPr>
              <a:t>— PCIe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F7EEF5"/>
                </a:solidFill>
                <a:latin typeface="Arial"/>
              </a:rPr>
              <a:t>— Внутренняя плата PCIe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C4A8BC"/>
                </a:solidFill>
                <a:latin typeface="Arial"/>
              </a:rPr>
              <a:t>Устанавливается в слот системной платы (линии x4/x8/x16). Выше запас по полосе, удобнее многоканальные входы.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C4A8BC"/>
                </a:solidFill>
                <a:latin typeface="Arial"/>
              </a:rPr>
              <a:t>Как отличить: USB — отдельный корпус к порту компьютера; PCIe — плата с контактной «гребёнкой» внутрь корпуса ПК.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763807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C4A8BC"/>
                </a:solidFill>
                <a:latin typeface="Arial"/>
              </a:rPr>
              <a:t>ТЕХ ГУАП · ПТС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6446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C4A8BC"/>
                </a:solidFill>
                <a:latin typeface="Arial"/>
              </a:rPr>
              <a:t>18 / 28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08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C0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1153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7EEF5"/>
                </a:solidFill>
                <a:latin typeface="Arial"/>
              </a:rPr>
              <a:t>Вывод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1">
                <a:solidFill>
                  <a:srgbClr val="F7EEF5"/>
                </a:solidFill>
                <a:latin typeface="Arial"/>
              </a:rPr>
              <a:t>— Вывод программы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F7EEF5"/>
                </a:solidFill>
                <a:latin typeface="Arial"/>
              </a:rPr>
              <a:t>— Карты и боксы вывода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C4A8BC"/>
                </a:solidFill>
                <a:latin typeface="Arial"/>
              </a:rPr>
              <a:t>После обработки программу возвращают в тракт устройствами вывода — это не мониторный выход игровой видеокарты.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F7EEF5"/>
                </a:solidFill>
                <a:latin typeface="Arial"/>
              </a:rPr>
              <a:t>— Внешний бокс вывода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C4A8BC"/>
                </a:solidFill>
                <a:latin typeface="Arial"/>
              </a:rPr>
              <a:t>— Blackmagic UltraStudio Monitor 3G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C4A8BC"/>
                </a:solidFill>
                <a:latin typeface="Arial"/>
              </a:rPr>
              <a:t>Внешнее устройство: принимает программу со станции и отдаёт её в SDI/HDMI эфирного тракта или на контрольный монитор.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C4A8BC"/>
                </a:solidFill>
                <a:latin typeface="Arial"/>
              </a:rPr>
              <a:t>— Внутренняя PCIe-плата (SDI + HDMI)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F7EEF5"/>
                </a:solidFill>
                <a:latin typeface="Arial"/>
              </a:rPr>
              <a:t>— PCIe SDI + HDMI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C4A8BC"/>
                </a:solidFill>
                <a:latin typeface="Arial"/>
              </a:rPr>
              <a:t>Плата в слот ПК с разъёмами SDI и HDMI. Типовая роль — захват и/или playback в профессиональный тракт.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C4A8BC"/>
                </a:solidFill>
                <a:latin typeface="Arial"/>
              </a:rPr>
              <a:t>Связка: захват → обработка на станции → вывод. HDMI ноутбука/ПК — всегда только выход и не заменяет вход захвата.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763807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C4A8BC"/>
                </a:solidFill>
                <a:latin typeface="Arial"/>
              </a:rPr>
              <a:t>ТЕХ ГУАП · ПТС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6446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C4A8BC"/>
                </a:solidFill>
                <a:latin typeface="Arial"/>
              </a:rPr>
              <a:t>19 / 28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08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C0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1153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7EEF5"/>
                </a:solidFill>
                <a:latin typeface="Arial"/>
              </a:rPr>
              <a:t>Видеокарты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1">
                <a:solidFill>
                  <a:srgbClr val="F7EEF5"/>
                </a:solidFill>
                <a:latin typeface="Arial"/>
              </a:rPr>
              <a:t>— Рабочая станция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F7EEF5"/>
                </a:solidFill>
                <a:latin typeface="Arial"/>
              </a:rPr>
              <a:t>— Видеокарты (GPU)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C4A8BC"/>
                </a:solidFill>
                <a:latin typeface="Arial"/>
              </a:rPr>
              <a:t>Видеокарта на эфирной станции — не «для игр», а ускоритель композиции, кодирования стрима и вывода на мониторы оператора. Её не следует путать с картой захвата или платой профессионального вывода в тракт.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C4A8BC"/>
                </a:solidFill>
                <a:latin typeface="Arial"/>
              </a:rPr>
              <a:t>Композиция: слои, переходы, ключи, NDI, превью в микшерном ПО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C4A8BC"/>
                </a:solidFill>
                <a:latin typeface="Arial"/>
              </a:rPr>
              <a:t>Кодирование: аппаратный энкодер (например NVENC) снижает нагрузку на CPU при стриме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C4A8BC"/>
                </a:solidFill>
                <a:latin typeface="Arial"/>
              </a:rPr>
              <a:t>Мониторинг: несколько выходов на экраны инженера и режиссёра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C4A8BC"/>
                </a:solidFill>
                <a:latin typeface="Arial"/>
              </a:rPr>
              <a:t>Запас: чем больше входов и эффектов, тем выше требования к GPU и памяти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C4A8BC"/>
                </a:solidFill>
                <a:latin typeface="Arial"/>
              </a:rPr>
              <a:t>Зачем нужна: без достаточного GPU станция «плывёт» по кадрам при сложной программе. При этом мониторный HDMI с видеокарты не заменяет SDI/HDMI‑вывод через карту playback в эфирный тракт.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C4A8BC"/>
                </a:solidFill>
                <a:latin typeface="Arial"/>
              </a:rPr>
              <a:t>— Wikimedia Commons · Palit GeForce RTX 5090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763807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C4A8BC"/>
                </a:solidFill>
                <a:latin typeface="Arial"/>
              </a:rPr>
              <a:t>ТЕХ ГУАП · ПТС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6446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C4A8BC"/>
                </a:solidFill>
                <a:latin typeface="Arial"/>
              </a:rPr>
              <a:t>20 / 28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08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C0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1153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7EEF5"/>
                </a:solidFill>
                <a:latin typeface="Arial"/>
              </a:rPr>
              <a:t>Стрим / запись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1">
                <a:solidFill>
                  <a:srgbClr val="F7EEF5"/>
                </a:solidFill>
                <a:latin typeface="Arial"/>
              </a:rPr>
              <a:t>— Вывод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F7EEF5"/>
                </a:solidFill>
                <a:latin typeface="Arial"/>
              </a:rPr>
              <a:t>— Стриммеры и рекордеры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C4A8BC"/>
                </a:solidFill>
                <a:latin typeface="Arial"/>
              </a:rPr>
              <a:t>Железный стриммер/рекордер кодирует и/или записывает программу отдельно от рабочей станции — снижая риск потери архива при сбое ОС.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C4A8BC"/>
                </a:solidFill>
                <a:latin typeface="Arial"/>
              </a:rPr>
              <a:t>— Рекордер — файл на SSD (Program / ISO)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C4A8BC"/>
                </a:solidFill>
                <a:latin typeface="Arial"/>
              </a:rPr>
              <a:t>— Стриммер — RTMP/SRT на платформу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C4A8BC"/>
                </a:solidFill>
                <a:latin typeface="Arial"/>
              </a:rPr>
              <a:t>Запись только на тот же ПК уязвима к зависанию станции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C4A8BC"/>
                </a:solidFill>
                <a:latin typeface="Arial"/>
              </a:rPr>
              <a:t>— Wikimedia Commons · HyperDeck Studio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763807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C4A8BC"/>
                </a:solidFill>
                <a:latin typeface="Arial"/>
              </a:rPr>
              <a:t>ТЕХ ГУАП · ПТС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6446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C4A8BC"/>
                </a:solidFill>
                <a:latin typeface="Arial"/>
              </a:rPr>
              <a:t>21 / 28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08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C0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1153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7EEF5"/>
                </a:solidFill>
                <a:latin typeface="Arial"/>
              </a:rPr>
              <a:t>Звук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1">
                <a:solidFill>
                  <a:srgbClr val="F7EEF5"/>
                </a:solidFill>
                <a:latin typeface="Arial"/>
              </a:rPr>
              <a:t>— Карты и синхрон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C4A8BC"/>
                </a:solidFill>
                <a:latin typeface="Arial"/>
              </a:rPr>
              <a:t>Звуковая карта / аудиоинтерфейс обеспечивает качественный ввод-вывод и контроль уровней, когда звук идёт отдельным трактом.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C4A8BC"/>
                </a:solidFill>
                <a:latin typeface="Arial"/>
              </a:rPr>
              <a:t>«Звук отстаёт» — разные пути: видео по сети, звук по XLR/USB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C4A8BC"/>
                </a:solidFill>
                <a:latin typeface="Arial"/>
              </a:rPr>
              <a:t>— Коррекция — delay / lip-sync в микшере или ПО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C4A8BC"/>
                </a:solidFill>
                <a:latin typeface="Arial"/>
              </a:rPr>
              <a:t>Согласование семплрейта (обычно 48 kHz) с видеорядом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C4A8BC"/>
                </a:solidFill>
                <a:latin typeface="Arial"/>
              </a:rPr>
              <a:t>— Wikimedia Commons · Focusrite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763807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C4A8BC"/>
                </a:solidFill>
                <a:latin typeface="Arial"/>
              </a:rPr>
              <a:t>ТЕХ ГУАП · ПТС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6446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C4A8BC"/>
                </a:solidFill>
                <a:latin typeface="Arial"/>
              </a:rPr>
              <a:t>22 / 28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08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C0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1153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7EEF5"/>
                </a:solidFill>
                <a:latin typeface="Arial"/>
              </a:rPr>
              <a:t>Практика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1">
                <a:solidFill>
                  <a:srgbClr val="F7EEF5"/>
                </a:solidFill>
                <a:latin typeface="Arial"/>
              </a:rPr>
              <a:t>— Мини-практика · 10 мин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F7EEF5"/>
                </a:solidFill>
                <a:latin typeface="Arial"/>
              </a:rPr>
              <a:t>— Четыре задачи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C4A8BC"/>
                </a:solidFill>
                <a:latin typeface="Arial"/>
              </a:rPr>
              <a:t>На каждом слайде — практическая задача. Назовите оборудование из занятия, которым её решить, и кратко опишите цепочку.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763807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C4A8BC"/>
                </a:solidFill>
                <a:latin typeface="Arial"/>
              </a:rPr>
              <a:t>ТЕХ ГУАП · ПТС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6446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C4A8BC"/>
                </a:solidFill>
                <a:latin typeface="Arial"/>
              </a:rPr>
              <a:t>23 / 28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08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C0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1153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7EEF5"/>
                </a:solidFill>
                <a:latin typeface="Arial"/>
              </a:rPr>
              <a:t>Задача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1">
                <a:solidFill>
                  <a:srgbClr val="F7EEF5"/>
                </a:solidFill>
                <a:latin typeface="Arial"/>
              </a:rPr>
              <a:t>— Практика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C4A8BC"/>
                </a:solidFill>
                <a:latin typeface="Arial"/>
              </a:rPr>
              <a:t>Камера отдаёт только HDMI. Нужно подать сигнал на микшер с входами SDI и одновременно на рекордер с входом HDMI.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F7EEF5"/>
                </a:solidFill>
                <a:latin typeface="Arial"/>
              </a:rPr>
              <a:t>— Вопрос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C4A8BC"/>
                </a:solidFill>
                <a:latin typeface="Arial"/>
              </a:rPr>
              <a:t>— Каким оборудованием из занятия это решить?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F7EEF5"/>
                </a:solidFill>
                <a:latin typeface="Arial"/>
              </a:rPr>
              <a:t>— Решение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C4A8BC"/>
                </a:solidFill>
                <a:latin typeface="Arial"/>
              </a:rPr>
              <a:t>Оборудование: HDMI-сплиттер + конвертер HDMI→SDI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C4A8BC"/>
                </a:solidFill>
                <a:latin typeface="Arial"/>
              </a:rPr>
              <a:t>Камера → HDMI-сплиттер: одна копия на рекордер (HDMI), вторая → конвертер HDMI→SDI → микшер (SDI). Адаптер здесь не поможет: стандарты разные.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763807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C4A8BC"/>
                </a:solidFill>
                <a:latin typeface="Arial"/>
              </a:rPr>
              <a:t>ТЕХ ГУАП · ПТС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6446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C4A8BC"/>
                </a:solidFill>
                <a:latin typeface="Arial"/>
              </a:rPr>
              <a:t>24 / 28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08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C0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1153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7EEF5"/>
                </a:solidFill>
                <a:latin typeface="Arial"/>
              </a:rPr>
              <a:t>Задача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1">
                <a:solidFill>
                  <a:srgbClr val="F7EEF5"/>
                </a:solidFill>
                <a:latin typeface="Arial"/>
              </a:rPr>
              <a:t>— Практика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C4A8BC"/>
                </a:solidFill>
                <a:latin typeface="Arial"/>
              </a:rPr>
              <a:t>Ноутбук со слайдами нужно вывести в железный микшер, у которого свободны только SDI-входы.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F7EEF5"/>
                </a:solidFill>
                <a:latin typeface="Arial"/>
              </a:rPr>
              <a:t>— Вопрос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C4A8BC"/>
                </a:solidFill>
                <a:latin typeface="Arial"/>
              </a:rPr>
              <a:t>— Каким оборудованием из занятия это решить?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F7EEF5"/>
                </a:solidFill>
                <a:latin typeface="Arial"/>
              </a:rPr>
              <a:t>— Решение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C4A8BC"/>
                </a:solidFill>
                <a:latin typeface="Arial"/>
              </a:rPr>
              <a:t>Оборудование: Конвертер HDMI→SDI (кабель HDMI с ноутбука)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C4A8BC"/>
                </a:solidFill>
                <a:latin typeface="Arial"/>
              </a:rPr>
              <a:t>Ноутбук (выход HDMI) → конвертер HDMI→SDI → микшер. HDMI ноутбука — всегда выход; вход в ПК для этой задачи не нужен.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763807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C4A8BC"/>
                </a:solidFill>
                <a:latin typeface="Arial"/>
              </a:rPr>
              <a:t>ТЕХ ГУАП · ПТС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6446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C4A8BC"/>
                </a:solidFill>
                <a:latin typeface="Arial"/>
              </a:rPr>
              <a:t>25 / 28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08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C0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1153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7EEF5"/>
                </a:solidFill>
                <a:latin typeface="Arial"/>
              </a:rPr>
              <a:t>Задача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1">
                <a:solidFill>
                  <a:srgbClr val="F7EEF5"/>
                </a:solidFill>
                <a:latin typeface="Arial"/>
              </a:rPr>
              <a:t>— Практика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C4A8BC"/>
                </a:solidFill>
                <a:latin typeface="Arial"/>
              </a:rPr>
              <a:t>Камера с выходом SDI должна попасть в vMix на рабочей станции для стрима.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F7EEF5"/>
                </a:solidFill>
                <a:latin typeface="Arial"/>
              </a:rPr>
              <a:t>— Вопрос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C4A8BC"/>
                </a:solidFill>
                <a:latin typeface="Arial"/>
              </a:rPr>
              <a:t>— Каким оборудованием из занятия это решить?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F7EEF5"/>
                </a:solidFill>
                <a:latin typeface="Arial"/>
              </a:rPr>
              <a:t>— Решение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C4A8BC"/>
                </a:solidFill>
                <a:latin typeface="Arial"/>
              </a:rPr>
              <a:t>— Оборудование: Карта захвата SDI (USB или PCIe)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C4A8BC"/>
                </a:solidFill>
                <a:latin typeface="Arial"/>
              </a:rPr>
              <a:t>Камера SDI → карта захвата → рабочая станция (vMix) → стрим. Без capture HDMI ПК сигнал не примет; видеокарта эту роль не выполняет.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763807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C4A8BC"/>
                </a:solidFill>
                <a:latin typeface="Arial"/>
              </a:rPr>
              <a:t>ТЕХ ГУАП · ПТС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6446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C4A8BC"/>
                </a:solidFill>
                <a:latin typeface="Arial"/>
              </a:rPr>
              <a:t>26 / 28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08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C0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1153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7EEF5"/>
                </a:solidFill>
                <a:latin typeface="Arial"/>
              </a:rPr>
              <a:t>Задача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1">
                <a:solidFill>
                  <a:srgbClr val="F7EEF5"/>
                </a:solidFill>
                <a:latin typeface="Arial"/>
              </a:rPr>
              <a:t>— Практика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C4A8BC"/>
                </a:solidFill>
                <a:latin typeface="Arial"/>
              </a:rPr>
              <a:t>Один SDI-сигнал с камеры нужно одновременно отдать на микшер и на рекордер (оба принимают SDI).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F7EEF5"/>
                </a:solidFill>
                <a:latin typeface="Arial"/>
              </a:rPr>
              <a:t>— Вопрос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C4A8BC"/>
                </a:solidFill>
                <a:latin typeface="Arial"/>
              </a:rPr>
              <a:t>— Каким оборудованием из занятия это решить?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F7EEF5"/>
                </a:solidFill>
                <a:latin typeface="Arial"/>
              </a:rPr>
              <a:t>— Решение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C4A8BC"/>
                </a:solidFill>
                <a:latin typeface="Arial"/>
              </a:rPr>
              <a:t>Оборудование: Активный SDI-сплиттер (или матрица)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C4A8BC"/>
                </a:solidFill>
                <a:latin typeface="Arial"/>
              </a:rPr>
              <a:t>Камера SDI → активный сплиттер → микшер и рекордер. Пассивный «тройник» нежелателен; матрица уместна, если маршрутов несколько и они меняются.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763807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C4A8BC"/>
                </a:solidFill>
                <a:latin typeface="Arial"/>
              </a:rPr>
              <a:t>ТЕХ ГУАП · ПТС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6446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C4A8BC"/>
                </a:solidFill>
                <a:latin typeface="Arial"/>
              </a:rPr>
              <a:t>27 / 28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08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C0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1153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7EEF5"/>
                </a:solidFill>
                <a:latin typeface="Arial"/>
              </a:rPr>
              <a:t>Итог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C4A8BC"/>
                </a:solidFill>
                <a:latin typeface="Arial"/>
              </a:rPr>
              <a:t>Сначала задача, потом тип соединения, потом железо — а не наоборот.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C4A8BC"/>
                </a:solidFill>
                <a:latin typeface="Arial"/>
              </a:rPr>
              <a:t>Источник → путь → обработка → вывод. Оборудование выбираем под задачу.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C4A8BC"/>
                </a:solidFill>
                <a:latin typeface="Arial"/>
              </a:rPr>
              <a:t>— Конвертер ≠ адаптер; сплиттер ≠ матрица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C4A8BC"/>
                </a:solidFill>
                <a:latin typeface="Arial"/>
              </a:rPr>
              <a:t>HDMI персонального компьютера — всегда только выход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C4A8BC"/>
                </a:solidFill>
                <a:latin typeface="Arial"/>
              </a:rPr>
              <a:t>Диагностика: исследование неисправности ведут от источника к конечному приёмнику; устранение начинают на участке сразу после последнего звена, где сигнал ещё присутствовал в штатном виде.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763807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C4A8BC"/>
                </a:solidFill>
                <a:latin typeface="Arial"/>
              </a:rPr>
              <a:t>ТЕХ ГУАП · ПТС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6446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C4A8BC"/>
                </a:solidFill>
                <a:latin typeface="Arial"/>
              </a:rPr>
              <a:t>28 / 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